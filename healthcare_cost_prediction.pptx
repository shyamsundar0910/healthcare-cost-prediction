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4F0"/>
    <a:srgbClr val="1C2E45"/>
    <a:srgbClr val="293A50"/>
    <a:srgbClr val="606C7C"/>
    <a:srgbClr val="A2B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17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CE5C9-9ADD-B2C0-84BA-7063CCCC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10225-1B0E-B257-78A9-150AE99B9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64077-08E1-EF62-3484-454769B31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E229A-DCEF-A0E1-47CA-EADCFAED31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82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6125"/>
            <a:ext cx="3625552" cy="1866112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1"/>
          <p:cNvSpPr/>
          <p:nvPr/>
        </p:nvSpPr>
        <p:spPr>
          <a:xfrm>
            <a:off x="2430740" y="712176"/>
            <a:ext cx="4316022" cy="1378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XN Final Deliverables</a:t>
            </a:r>
            <a:endParaRPr lang="en-US" sz="27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30740" y="1942346"/>
            <a:ext cx="4282290" cy="18231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114300" algn="ctr">
              <a:lnSpc>
                <a:spcPct val="90000"/>
              </a:lnSpc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ALY 6980 - Capstone</a:t>
            </a:r>
          </a:p>
          <a:p>
            <a:pPr marL="114300" algn="ctr">
              <a:lnSpc>
                <a:spcPct val="90000"/>
              </a:lnSpc>
              <a:spcAft>
                <a:spcPts val="300"/>
              </a:spcAft>
              <a:buSzPct val="100000"/>
            </a:pP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Northeastern University - College of Professional Studies</a:t>
            </a:r>
          </a:p>
          <a:p>
            <a:pPr marL="114300" algn="ctr">
              <a:lnSpc>
                <a:spcPct val="90000"/>
              </a:lnSpc>
              <a:spcAft>
                <a:spcPts val="300"/>
              </a:spcAft>
              <a:buSzPct val="100000"/>
            </a:pP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Professor: Dr. Ajit </a:t>
            </a:r>
            <a:r>
              <a:rPr lang="en-US" sz="1600" dirty="0" err="1">
                <a:solidFill>
                  <a:schemeClr val="tx2"/>
                </a:solidFill>
              </a:rPr>
              <a:t>Appari</a:t>
            </a: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  <a:p>
            <a:pPr marL="114300" algn="ctr">
              <a:lnSpc>
                <a:spcPct val="90000"/>
              </a:lnSpc>
              <a:spcAft>
                <a:spcPts val="300"/>
              </a:spcAft>
              <a:buSzPct val="100000"/>
            </a:pPr>
            <a:r>
              <a:rPr lang="en-US" sz="1600" dirty="0">
                <a:solidFill>
                  <a:schemeClr val="tx2"/>
                </a:solidFill>
              </a:rPr>
              <a:t>Prepared by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Shyamsundar Nandakumar</a:t>
            </a: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3109732"/>
            <a:ext cx="2356800" cy="2037604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FE66B-D648-A8FB-DA72-D8C1138D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306270-39B8-75FD-1DA7-1BCDB2150D3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4C5E1C-03B8-ED1A-3B83-27DAB9FA87C0}"/>
              </a:ext>
            </a:extLst>
          </p:cNvPr>
          <p:cNvSpPr/>
          <p:nvPr/>
        </p:nvSpPr>
        <p:spPr>
          <a:xfrm>
            <a:off x="256032" y="2560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59B07E-C862-60D0-AC61-879DB6696B55}"/>
              </a:ext>
            </a:extLst>
          </p:cNvPr>
          <p:cNvSpPr/>
          <p:nvPr/>
        </p:nvSpPr>
        <p:spPr>
          <a:xfrm>
            <a:off x="251460" y="978824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expenditure in the U.S. is highly concentrated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proportion of individuals account for a major share of costs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high-cost patients are often linked to: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conditions</a:t>
            </a:r>
            <a:endParaRPr lang="en-US" sz="1200" dirty="0">
              <a:solidFill>
                <a:srgbClr val="D6E4F0"/>
              </a:solidFill>
            </a:endParaRPr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healthcare utilization</a:t>
            </a:r>
            <a:endParaRPr lang="en-US" sz="1200" dirty="0">
              <a:solidFill>
                <a:srgbClr val="D6E4F0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is critical for:</a:t>
            </a:r>
            <a:endParaRPr lang="en-US" sz="12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200" dirty="0">
              <a:solidFill>
                <a:srgbClr val="D6E4F0"/>
              </a:solidFill>
            </a:endParaRPr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resource allocation</a:t>
            </a:r>
            <a:endParaRPr lang="en-US" sz="1200" dirty="0">
              <a:solidFill>
                <a:srgbClr val="D6E4F0"/>
              </a:solidFill>
            </a:endParaRPr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patient outcomes</a:t>
            </a:r>
            <a:endParaRPr lang="en-US" sz="1200" dirty="0">
              <a:solidFill>
                <a:srgbClr val="D6E4F0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6C71F0-760E-A13C-EE40-D088F3AB22D6}"/>
              </a:ext>
            </a:extLst>
          </p:cNvPr>
          <p:cNvSpPr/>
          <p:nvPr/>
        </p:nvSpPr>
        <p:spPr>
          <a:xfrm>
            <a:off x="256032" y="3611880"/>
            <a:ext cx="4389120" cy="1188720"/>
          </a:xfrm>
          <a:prstGeom prst="rect">
            <a:avLst/>
          </a:prstGeom>
          <a:solidFill>
            <a:srgbClr val="1A3558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2B2FDD8-7AC4-A26F-69B1-21803F8A738B}"/>
              </a:ext>
            </a:extLst>
          </p:cNvPr>
          <p:cNvSpPr/>
          <p:nvPr/>
        </p:nvSpPr>
        <p:spPr>
          <a:xfrm>
            <a:off x="36576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8C4AF9-2634-AB6D-D3C5-9B7969D70207}"/>
              </a:ext>
            </a:extLst>
          </p:cNvPr>
          <p:cNvSpPr/>
          <p:nvPr/>
        </p:nvSpPr>
        <p:spPr>
          <a:xfrm>
            <a:off x="365760" y="39319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predictive model to identify persistent high-cost individuals (top 10%) over 2 years</a:t>
            </a:r>
            <a:endParaRPr lang="en-US" sz="12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0EADF712-B65F-D933-ACA7-80F8FAAED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02920"/>
            <a:ext cx="4069080" cy="402336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38C25C02-4A1C-8D7D-B2D7-B29D3CCB1E91}"/>
              </a:ext>
            </a:extLst>
          </p:cNvPr>
          <p:cNvSpPr/>
          <p:nvPr/>
        </p:nvSpPr>
        <p:spPr>
          <a:xfrm>
            <a:off x="4937760" y="45262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High-Cost Prevalence by Panel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5656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450571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7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459715"/>
            <a:ext cx="2651760" cy="347472"/>
          </a:xfrm>
          <a:prstGeom prst="rect">
            <a:avLst/>
          </a:prstGeom>
          <a:solidFill>
            <a:srgbClr val="1579C0"/>
          </a:solidFill>
          <a:ln w="12700">
            <a:solidFill>
              <a:srgbClr val="157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450571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50571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46120" y="1441427"/>
            <a:ext cx="2651760" cy="347472"/>
          </a:xfrm>
          <a:prstGeom prst="rect">
            <a:avLst/>
          </a:prstGeom>
          <a:solidFill>
            <a:srgbClr val="1D9E74"/>
          </a:solidFill>
          <a:ln w="12700">
            <a:solidFill>
              <a:srgbClr val="1D9E7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46120" y="1450571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450571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450571"/>
            <a:ext cx="2651760" cy="347472"/>
          </a:xfrm>
          <a:prstGeom prst="rect">
            <a:avLst/>
          </a:prstGeom>
          <a:solidFill>
            <a:srgbClr val="25A18E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63640" y="1450571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880339"/>
            <a:ext cx="24688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accurately predict individuals who will remain in the top 10% of healthcare expenditure over time?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9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goal: Early identification of persistently high-cost patients using survey-weighted predictive modeling.</a:t>
            </a:r>
            <a:endParaRPr lang="en-US" sz="1200" dirty="0">
              <a:solidFill>
                <a:srgbClr val="293A5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1880339"/>
            <a:ext cx="24688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MEPS Longitudinal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Multi-panel dataset (multiple years)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include:</a:t>
            </a:r>
            <a:endParaRPr lang="en-US" sz="11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>
              <a:solidFill>
                <a:srgbClr val="1C2E45"/>
              </a:solidFill>
            </a:endParaRPr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status</a:t>
            </a:r>
            <a:endParaRPr lang="en-US" sz="1100" dirty="0">
              <a:solidFill>
                <a:srgbClr val="1C2E45"/>
              </a:solidFill>
            </a:endParaRPr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conditions</a:t>
            </a:r>
            <a:endParaRPr lang="en-US" sz="1100" dirty="0">
              <a:solidFill>
                <a:srgbClr val="1C2E45"/>
              </a:solidFill>
            </a:endParaRPr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expenditure</a:t>
            </a:r>
            <a:endParaRPr lang="en-US" sz="1100" dirty="0">
              <a:solidFill>
                <a:srgbClr val="1C2E45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5080" y="1880339"/>
            <a:ext cx="24688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Recoded categorical variables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derived variables:</a:t>
            </a:r>
            <a:endParaRPr lang="en-US" sz="11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2-year expenditure</a:t>
            </a:r>
            <a:endParaRPr lang="en-US" sz="1100" dirty="0">
              <a:solidFill>
                <a:srgbClr val="1C2E45"/>
              </a:solidFill>
            </a:endParaRPr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expenditure</a:t>
            </a:r>
            <a:endParaRPr lang="en-US" sz="1100" dirty="0">
              <a:solidFill>
                <a:srgbClr val="1C2E45"/>
              </a:solidFill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survey weights for pooled panels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A18E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28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434840" cy="1417320"/>
          </a:xfrm>
          <a:prstGeom prst="rect">
            <a:avLst/>
          </a:prstGeom>
          <a:solidFill>
            <a:srgbClr val="1A3558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Survey-weighted Logistic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Handles: 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 •  Clustering  •  Sampling weights</a:t>
            </a:r>
            <a:endParaRPr lang="en-US" sz="1100" dirty="0">
              <a:solidFill>
                <a:srgbClr val="D6E4F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2423160"/>
            <a:ext cx="4434840" cy="1143000"/>
          </a:xfrm>
          <a:prstGeom prst="rect">
            <a:avLst/>
          </a:prstGeom>
          <a:solidFill>
            <a:srgbClr val="1A3558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478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A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715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→ 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1–4      </a:t>
            </a: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</a:t>
            </a: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5</a:t>
            </a:r>
            <a:endParaRPr lang="en-US" sz="1100" dirty="0">
              <a:solidFill>
                <a:srgbClr val="D6E4F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6032" y="3657600"/>
            <a:ext cx="1051560" cy="594360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36576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99032" y="3657600"/>
            <a:ext cx="1051560" cy="594360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99032" y="36576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42032" y="3657600"/>
            <a:ext cx="1051560" cy="594360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2032" y="36576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85032" y="3657600"/>
            <a:ext cx="1051560" cy="594360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85032" y="36576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251960"/>
            <a:ext cx="4480560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5A7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" y="43159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also evaluated for balanced performance assessment</a:t>
            </a:r>
            <a:endParaRPr lang="en-US" sz="9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02920"/>
            <a:ext cx="4069080" cy="4114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937760" y="4617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(AUC = 0.934)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Risk Segmentation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103120" cy="1325880"/>
          </a:xfrm>
          <a:prstGeom prst="rect">
            <a:avLst/>
          </a:prstGeom>
          <a:solidFill>
            <a:srgbClr val="1579C0"/>
          </a:solidFill>
          <a:ln w="12700">
            <a:solidFill>
              <a:srgbClr val="157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1463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model performance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95728" y="777240"/>
            <a:ext cx="2103120" cy="1325880"/>
          </a:xfrm>
          <a:prstGeom prst="rect">
            <a:avLst/>
          </a:prstGeom>
          <a:solidFill>
            <a:srgbClr val="1D9E74"/>
          </a:solidFill>
          <a:ln w="12700">
            <a:solidFill>
              <a:srgbClr val="1D9E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95728" y="8046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95728" y="1463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95728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most high-risk patients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8576" y="777240"/>
            <a:ext cx="2103120" cy="1325880"/>
          </a:xfrm>
          <a:prstGeom prst="rect">
            <a:avLst/>
          </a:prstGeom>
          <a:solidFill>
            <a:srgbClr val="D08C0A"/>
          </a:solidFill>
          <a:ln w="12700">
            <a:solidFill>
              <a:srgbClr val="D08C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08576" y="8046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08576" y="1463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08576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classification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21424" y="777240"/>
            <a:ext cx="2103120" cy="1325880"/>
          </a:xfrm>
          <a:prstGeom prst="rect">
            <a:avLst/>
          </a:prstGeom>
          <a:solidFill>
            <a:srgbClr val="6A4FA3"/>
          </a:solidFill>
          <a:ln w="12700">
            <a:solidFill>
              <a:srgbClr val="6A4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21424" y="8046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21424" y="1463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21424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</a:t>
            </a:r>
            <a:endParaRPr lang="en-US" sz="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194560"/>
            <a:ext cx="4754880" cy="2743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2880" y="49377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High-Cost Risk Stratification by Quintile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120640" y="2194560"/>
            <a:ext cx="3794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20640" y="2194560"/>
            <a:ext cx="3794760" cy="347472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120640" y="2194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 INSIGHT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12080" y="2615184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group (Quintile 5)</a:t>
            </a:r>
            <a:endParaRPr lang="en-US" sz="12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are persistent high-cost individuals</a:t>
            </a:r>
            <a:endParaRPr lang="en-US" sz="1200" dirty="0">
              <a:solidFill>
                <a:srgbClr val="1C2E45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 group (Quintile 1)</a:t>
            </a:r>
            <a:endParaRPr lang="en-US" sz="12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are persistent high-cost individuals</a:t>
            </a:r>
            <a:endParaRPr lang="en-US" sz="1200" dirty="0">
              <a:solidFill>
                <a:srgbClr val="1C2E45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D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separation across quintiles</a:t>
            </a:r>
            <a:endParaRPr lang="en-US" sz="12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actionable, targeted interventions</a:t>
            </a:r>
            <a:endParaRPr lang="en-US" sz="1200" dirty="0">
              <a:solidFill>
                <a:srgbClr val="1C2E4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08C0A"/>
          </a:solidFill>
          <a:ln w="12700">
            <a:solidFill>
              <a:srgbClr val="D08C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286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of High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434840" cy="685800"/>
          </a:xfrm>
          <a:prstGeom prst="rect">
            <a:avLst/>
          </a:prstGeom>
          <a:solidFill>
            <a:srgbClr val="D08C0A"/>
          </a:solidFill>
          <a:ln w="12700">
            <a:solidFill>
              <a:srgbClr val="D08C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STRONGEST PREDICTOR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Healthcare Expenditure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" y="1691640"/>
            <a:ext cx="4434840" cy="1335024"/>
          </a:xfrm>
          <a:prstGeom prst="rect">
            <a:avLst/>
          </a:prstGeom>
          <a:solidFill>
            <a:srgbClr val="1A3558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FACTORS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1371600" cy="384048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029968"/>
            <a:ext cx="1371600" cy="384048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2029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029968"/>
            <a:ext cx="1371600" cy="384048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0299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32888"/>
            <a:ext cx="1371600" cy="384048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328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2532888"/>
            <a:ext cx="1371600" cy="384048"/>
          </a:xfrm>
          <a:prstGeom prst="rect">
            <a:avLst/>
          </a:prstGeom>
          <a:solidFill>
            <a:srgbClr val="1B8FAB"/>
          </a:solidFill>
          <a:ln w="12700">
            <a:solidFill>
              <a:srgbClr val="1B8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0" y="25328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214255"/>
            <a:ext cx="4434840" cy="1632065"/>
          </a:xfrm>
          <a:prstGeom prst="rect">
            <a:avLst/>
          </a:prstGeom>
          <a:solidFill>
            <a:srgbClr val="1A3558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319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A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671177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conditions significantly increase long-term costs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interpretable → useful for real healthcare decisions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02920"/>
            <a:ext cx="406908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93776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Odds Ratio Plot (Predictors of Persistent High Expenditure)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4"/>
          </a:solidFill>
          <a:ln w="12700">
            <a:solidFill>
              <a:srgbClr val="1D9E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011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56032" y="841248"/>
            <a:ext cx="4434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robust and interpretable predictive model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identified high-cost individuals with high accuracy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supports:</a:t>
            </a:r>
            <a:endParaRPr lang="en-US" sz="12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1200" dirty="0">
              <a:solidFill>
                <a:srgbClr val="D6E4F0"/>
              </a:solidFill>
            </a:endParaRPr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care management</a:t>
            </a:r>
            <a:endParaRPr lang="en-US" sz="1200" dirty="0">
              <a:solidFill>
                <a:srgbClr val="D6E4F0"/>
              </a:solidFill>
            </a:endParaRPr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resource allocation</a:t>
            </a:r>
            <a:endParaRPr lang="en-US" sz="1200" dirty="0">
              <a:solidFill>
                <a:srgbClr val="D6E4F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3293641"/>
            <a:ext cx="7980496" cy="1005840"/>
          </a:xfrm>
          <a:prstGeom prst="rect">
            <a:avLst/>
          </a:prstGeom>
          <a:solidFill>
            <a:srgbClr val="1D9E74"/>
          </a:solidFill>
          <a:ln w="12700">
            <a:solidFill>
              <a:srgbClr val="1D9E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1" y="3357649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INSIGHT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586249"/>
            <a:ext cx="637447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can significantly improve healthcare decision-making and cost management</a:t>
            </a:r>
            <a:endParaRPr lang="en-US" sz="1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E63E0FEC-294D-1B07-06DF-23671D4301AE}"/>
              </a:ext>
            </a:extLst>
          </p:cNvPr>
          <p:cNvSpPr/>
          <p:nvPr/>
        </p:nvSpPr>
        <p:spPr>
          <a:xfrm>
            <a:off x="5285232" y="768096"/>
            <a:ext cx="3656492" cy="1691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advanced ML models to improve performance</a:t>
            </a:r>
            <a:endParaRPr lang="en-US" sz="1200" dirty="0">
              <a:solidFill>
                <a:srgbClr val="D6E4F0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behavioral and socioeconomic features</a:t>
            </a:r>
            <a:endParaRPr lang="en-US" sz="1200" dirty="0">
              <a:solidFill>
                <a:srgbClr val="D6E4F0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real-time healthcare decision systems</a:t>
            </a:r>
            <a:endParaRPr lang="en-US" sz="1200" dirty="0">
              <a:solidFill>
                <a:srgbClr val="D6E4F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A3C0DE-A8B2-BF6D-1C70-67F890AAF177}"/>
              </a:ext>
            </a:extLst>
          </p:cNvPr>
          <p:cNvSpPr txBox="1"/>
          <p:nvPr/>
        </p:nvSpPr>
        <p:spPr>
          <a:xfrm>
            <a:off x="981986" y="674892"/>
            <a:ext cx="692161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effectLst/>
                <a:latin typeface="TimesNewRomanPS"/>
              </a:rPr>
              <a:t>EFERENCES </a:t>
            </a:r>
            <a:endParaRPr lang="en-US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TimesNewRomanPSMT"/>
              </a:rPr>
              <a:t>Agency for Healthcare Research and Quality. (2020). </a:t>
            </a:r>
            <a:r>
              <a:rPr lang="en-US" sz="1050" i="1" dirty="0">
                <a:effectLst/>
                <a:latin typeface="TimesNewRomanPS"/>
              </a:rPr>
              <a:t>Medical Expenditure Panel Survey (MEPS) HC-210: 2017–2018 longitudinal data file</a:t>
            </a:r>
            <a:r>
              <a:rPr lang="en-US" sz="1050" dirty="0">
                <a:effectLst/>
                <a:latin typeface="TimesNewRomanPSMT"/>
              </a:rPr>
              <a:t>. 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https://</a:t>
            </a:r>
            <a:r>
              <a:rPr lang="en-US" sz="1050" dirty="0" err="1">
                <a:solidFill>
                  <a:srgbClr val="447784"/>
                </a:solidFill>
                <a:effectLst/>
                <a:latin typeface="TimesNewRomanPSMT"/>
              </a:rPr>
              <a:t>www.meps.ahrq.gov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 </a:t>
            </a:r>
            <a:endParaRPr lang="en-US" sz="105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TimesNewRomanPSMT"/>
              </a:rPr>
              <a:t>Bates, D. W., Saria, S., Ohno-Machado, L., Shah, A., &amp; Escobar, G. (2014). Big data in health care: Using analytics to identify and manage high-risk patients. </a:t>
            </a:r>
            <a:r>
              <a:rPr lang="en-US" sz="1050" i="1" dirty="0">
                <a:effectLst/>
                <a:latin typeface="TimesNewRomanPS"/>
              </a:rPr>
              <a:t>Health Affairs, 33</a:t>
            </a:r>
            <a:r>
              <a:rPr lang="en-US" sz="1050" dirty="0">
                <a:effectLst/>
                <a:latin typeface="TimesNewRomanPSMT"/>
              </a:rPr>
              <a:t>(7), 1123–1131. 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https://</a:t>
            </a:r>
            <a:r>
              <a:rPr lang="en-US" sz="1050" dirty="0" err="1">
                <a:solidFill>
                  <a:srgbClr val="447784"/>
                </a:solidFill>
                <a:effectLst/>
                <a:latin typeface="TimesNewRomanPSMT"/>
              </a:rPr>
              <a:t>doi.org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/10.1377/hlthaff.2014.0041 </a:t>
            </a:r>
            <a:endParaRPr lang="en-US" sz="105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TimesNewRomanPSMT"/>
              </a:rPr>
              <a:t>Cohen, S. B., &amp; Yu, W. (2012). The concentration and persistence in the level of health expenditures over time: Estimates for the U.S. population, 2008–2009. </a:t>
            </a:r>
            <a:r>
              <a:rPr lang="en-US" sz="1050" i="1" dirty="0">
                <a:effectLst/>
                <a:latin typeface="TimesNewRomanPS"/>
              </a:rPr>
              <a:t>Statistical Brief (Medical Expenditure Panel Survey No. 354)</a:t>
            </a:r>
            <a:r>
              <a:rPr lang="en-US" sz="1050" dirty="0">
                <a:effectLst/>
                <a:latin typeface="TimesNewRomanPSMT"/>
              </a:rPr>
              <a:t>. Agency for Healthcare Research and Quality. </a:t>
            </a:r>
            <a:endParaRPr lang="en-US" sz="105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 err="1">
                <a:effectLst/>
                <a:latin typeface="TimesNewRomanPSMT"/>
              </a:rPr>
              <a:t>Diehr</a:t>
            </a:r>
            <a:r>
              <a:rPr lang="en-US" sz="1050" dirty="0">
                <a:effectLst/>
                <a:latin typeface="TimesNewRomanPSMT"/>
              </a:rPr>
              <a:t>, P., Yanez, D., Ash, A., </a:t>
            </a:r>
            <a:r>
              <a:rPr lang="en-US" sz="1050" dirty="0" err="1">
                <a:effectLst/>
                <a:latin typeface="TimesNewRomanPSMT"/>
              </a:rPr>
              <a:t>Hornbrook</a:t>
            </a:r>
            <a:r>
              <a:rPr lang="en-US" sz="1050" dirty="0">
                <a:effectLst/>
                <a:latin typeface="TimesNewRomanPSMT"/>
              </a:rPr>
              <a:t>, M., &amp; Lin, D. Y. (1999). Methods for analyzing health care utilization and costs. </a:t>
            </a:r>
            <a:r>
              <a:rPr lang="en-US" sz="1050" i="1" dirty="0">
                <a:effectLst/>
                <a:latin typeface="TimesNewRomanPS"/>
              </a:rPr>
              <a:t>Annual Review of Public Health, 20</a:t>
            </a:r>
            <a:r>
              <a:rPr lang="en-US" sz="1050" dirty="0">
                <a:effectLst/>
                <a:latin typeface="TimesNewRomanPSMT"/>
              </a:rPr>
              <a:t>, 125–144. 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https://</a:t>
            </a:r>
            <a:r>
              <a:rPr lang="en-US" sz="1050" dirty="0" err="1">
                <a:solidFill>
                  <a:srgbClr val="447784"/>
                </a:solidFill>
                <a:effectLst/>
                <a:latin typeface="TimesNewRomanPSMT"/>
              </a:rPr>
              <a:t>doi.org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/10.1146/annurev.publhealth.20.1.125 </a:t>
            </a:r>
            <a:endParaRPr lang="en-US" sz="105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TimesNewRomanPSMT"/>
              </a:rPr>
              <a:t>Hwang, W., Weller, W., </a:t>
            </a:r>
            <a:r>
              <a:rPr lang="en-US" sz="1050" dirty="0" err="1">
                <a:effectLst/>
                <a:latin typeface="TimesNewRomanPSMT"/>
              </a:rPr>
              <a:t>Ireys</a:t>
            </a:r>
            <a:r>
              <a:rPr lang="en-US" sz="1050" dirty="0">
                <a:effectLst/>
                <a:latin typeface="TimesNewRomanPSMT"/>
              </a:rPr>
              <a:t>, H., &amp; Anderson, G. (2001). Out-of-pocket medical spending for care of chronic conditions. </a:t>
            </a:r>
            <a:r>
              <a:rPr lang="en-US" sz="1050" i="1" dirty="0">
                <a:effectLst/>
                <a:latin typeface="TimesNewRomanPS"/>
              </a:rPr>
              <a:t>Health Affairs, 20</a:t>
            </a:r>
            <a:r>
              <a:rPr lang="en-US" sz="1050" dirty="0">
                <a:effectLst/>
                <a:latin typeface="TimesNewRomanPSMT"/>
              </a:rPr>
              <a:t>(6), 267–278. 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https://</a:t>
            </a:r>
            <a:r>
              <a:rPr lang="en-US" sz="1050" dirty="0" err="1">
                <a:solidFill>
                  <a:srgbClr val="447784"/>
                </a:solidFill>
                <a:effectLst/>
                <a:latin typeface="TimesNewRomanPSMT"/>
              </a:rPr>
              <a:t>doi.org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/10.1377/hlthaff.20.6.267 </a:t>
            </a:r>
            <a:endParaRPr lang="en-US" sz="105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TimesNewRomanPSMT"/>
              </a:rPr>
              <a:t>Johnson, T. L., Rinehart, D. J., Durfee, J., Brewer, D., </a:t>
            </a:r>
            <a:r>
              <a:rPr lang="en-US" sz="1050" dirty="0" err="1">
                <a:effectLst/>
                <a:latin typeface="TimesNewRomanPSMT"/>
              </a:rPr>
              <a:t>Batal</a:t>
            </a:r>
            <a:r>
              <a:rPr lang="en-US" sz="1050" dirty="0">
                <a:effectLst/>
                <a:latin typeface="TimesNewRomanPSMT"/>
              </a:rPr>
              <a:t>, H., Blum, J., </a:t>
            </a:r>
            <a:r>
              <a:rPr lang="en-US" sz="1050" dirty="0" err="1">
                <a:effectLst/>
                <a:latin typeface="TimesNewRomanPSMT"/>
              </a:rPr>
              <a:t>Oronce</a:t>
            </a:r>
            <a:r>
              <a:rPr lang="en-US" sz="1050" dirty="0">
                <a:effectLst/>
                <a:latin typeface="TimesNewRomanPSMT"/>
              </a:rPr>
              <a:t>, C. I. A., &amp; </a:t>
            </a:r>
            <a:r>
              <a:rPr lang="en-US" sz="1050" dirty="0" err="1">
                <a:effectLst/>
                <a:latin typeface="TimesNewRomanPSMT"/>
              </a:rPr>
              <a:t>Melinkovich</a:t>
            </a:r>
            <a:r>
              <a:rPr lang="en-US" sz="1050" dirty="0">
                <a:effectLst/>
                <a:latin typeface="TimesNewRomanPSMT"/>
              </a:rPr>
              <a:t>, P. (2015). For many patients, high-cost care is a temporary state. </a:t>
            </a:r>
            <a:r>
              <a:rPr lang="en-US" sz="1050" i="1" dirty="0">
                <a:effectLst/>
                <a:latin typeface="TimesNewRomanPS"/>
              </a:rPr>
              <a:t>Health Affairs, 34</a:t>
            </a:r>
            <a:r>
              <a:rPr lang="en-US" sz="1050" dirty="0">
                <a:effectLst/>
                <a:latin typeface="TimesNewRomanPSMT"/>
              </a:rPr>
              <a:t>(8), 1312–1319. 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https://</a:t>
            </a:r>
            <a:r>
              <a:rPr lang="en-US" sz="1050" dirty="0" err="1">
                <a:solidFill>
                  <a:srgbClr val="447784"/>
                </a:solidFill>
                <a:effectLst/>
                <a:latin typeface="TimesNewRomanPSMT"/>
              </a:rPr>
              <a:t>doi.org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/10.1377/hlthaff.2014.1186 </a:t>
            </a:r>
            <a:endParaRPr lang="en-US" sz="105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TimesNewRomanPSMT"/>
              </a:rPr>
              <a:t>Newhouse, J. P. (1992). Medical care costs: How much welfare loss? </a:t>
            </a:r>
            <a:r>
              <a:rPr lang="en-US" sz="1050" i="1" dirty="0">
                <a:effectLst/>
                <a:latin typeface="TimesNewRomanPS"/>
              </a:rPr>
              <a:t>Journal of Economic Perspectives, 6</a:t>
            </a:r>
            <a:r>
              <a:rPr lang="en-US" sz="1050" dirty="0">
                <a:effectLst/>
                <a:latin typeface="TimesNewRomanPSMT"/>
              </a:rPr>
              <a:t>(3), 3–21. 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https://</a:t>
            </a:r>
            <a:r>
              <a:rPr lang="en-US" sz="1050" dirty="0" err="1">
                <a:solidFill>
                  <a:srgbClr val="447784"/>
                </a:solidFill>
                <a:effectLst/>
                <a:latin typeface="TimesNewRomanPSMT"/>
              </a:rPr>
              <a:t>doi.org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/10.1257/jep.6.3.3 </a:t>
            </a:r>
            <a:endParaRPr lang="en-US" sz="105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TimesNewRomanPSMT"/>
              </a:rPr>
              <a:t>Wang, L., &amp; Alexander, C. A. (2015). Big data analytics in healthcare systems. </a:t>
            </a:r>
            <a:r>
              <a:rPr lang="en-US" sz="1050" i="1" dirty="0">
                <a:effectLst/>
                <a:latin typeface="TimesNewRomanPS"/>
              </a:rPr>
              <a:t>International Journal of Mathematical, Engineering and Management Sciences, 1</a:t>
            </a:r>
            <a:r>
              <a:rPr lang="en-US" sz="1050" dirty="0">
                <a:effectLst/>
                <a:latin typeface="TimesNewRomanPSMT"/>
              </a:rPr>
              <a:t>(1), 1–13. </a:t>
            </a:r>
            <a:endParaRPr lang="en-US" sz="105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TimesNewRomanPSMT"/>
              </a:rPr>
              <a:t>Zhu, Y., Zhang, L., &amp; Lee, H. (2020). Identifying high-cost patients using machine learning techniques. </a:t>
            </a:r>
            <a:r>
              <a:rPr lang="en-US" sz="1050" i="1" dirty="0">
                <a:effectLst/>
                <a:latin typeface="TimesNewRomanPS"/>
              </a:rPr>
              <a:t>BMC Health Services Research, 20</a:t>
            </a:r>
            <a:r>
              <a:rPr lang="en-US" sz="1050" dirty="0">
                <a:effectLst/>
                <a:latin typeface="TimesNewRomanPSMT"/>
              </a:rPr>
              <a:t>, 1–10. 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https://</a:t>
            </a:r>
            <a:r>
              <a:rPr lang="en-US" sz="1050" dirty="0" err="1">
                <a:solidFill>
                  <a:srgbClr val="447784"/>
                </a:solidFill>
                <a:effectLst/>
                <a:latin typeface="TimesNewRomanPSMT"/>
              </a:rPr>
              <a:t>doi.org</a:t>
            </a:r>
            <a:r>
              <a:rPr lang="en-US" sz="1050" dirty="0">
                <a:solidFill>
                  <a:srgbClr val="447784"/>
                </a:solidFill>
                <a:effectLst/>
                <a:latin typeface="TimesNewRomanPSMT"/>
              </a:rPr>
              <a:t>/10.1186/s12913-020-05688-3 </a:t>
            </a:r>
            <a:endParaRPr lang="en-US" sz="1050" dirty="0">
              <a:effectLst/>
              <a:latin typeface="SymbolMT"/>
            </a:endParaRPr>
          </a:p>
        </p:txBody>
      </p:sp>
    </p:spTree>
    <p:extLst>
      <p:ext uri="{BB962C8B-B14F-4D97-AF65-F5344CB8AC3E}">
        <p14:creationId xmlns:p14="http://schemas.microsoft.com/office/powerpoint/2010/main" val="44262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857</Words>
  <Application>Microsoft Macintosh PowerPoint</Application>
  <PresentationFormat>On-screen Show (16:9)</PresentationFormat>
  <Paragraphs>115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SymbolMT</vt:lpstr>
      <vt:lpstr>TimesNewRomanPS</vt:lpstr>
      <vt:lpstr>TimesNewRomanPSMT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Persistent High-Cost Healthcare Patients</dc:title>
  <dc:subject>PptxGenJS Presentation</dc:subject>
  <dc:creator>PptxGenJS</dc:creator>
  <cp:lastModifiedBy>Shyam Sundar Nandakumar</cp:lastModifiedBy>
  <cp:revision>4</cp:revision>
  <dcterms:created xsi:type="dcterms:W3CDTF">2026-03-26T23:46:13Z</dcterms:created>
  <dcterms:modified xsi:type="dcterms:W3CDTF">2026-03-27T15:00:30Z</dcterms:modified>
</cp:coreProperties>
</file>